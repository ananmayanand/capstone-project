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4425" r:id="rId3"/>
    <p:sldId id="4423" r:id="rId4"/>
    <p:sldId id="4443" r:id="rId5"/>
    <p:sldId id="4428" r:id="rId6"/>
    <p:sldId id="4429" r:id="rId7"/>
    <p:sldId id="4430" r:id="rId8"/>
    <p:sldId id="4427" r:id="rId9"/>
    <p:sldId id="4431" r:id="rId10"/>
    <p:sldId id="4432" r:id="rId11"/>
    <p:sldId id="4433" r:id="rId12"/>
    <p:sldId id="4437" r:id="rId13"/>
    <p:sldId id="4434" r:id="rId14"/>
    <p:sldId id="4435" r:id="rId15"/>
    <p:sldId id="4436" r:id="rId16"/>
    <p:sldId id="4442" r:id="rId17"/>
    <p:sldId id="4438" r:id="rId18"/>
    <p:sldId id="4439" r:id="rId19"/>
    <p:sldId id="4440" r:id="rId20"/>
    <p:sldId id="4441" r:id="rId21"/>
    <p:sldId id="4445" r:id="rId22"/>
    <p:sldId id="444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K" userId="33e83220-6405-4fd6-9ff8-8bc3593ea1b7" providerId="ADAL" clId="{3E0B36D1-B71C-485F-BC5C-DE26605EABB7}"/>
    <pc:docChg chg="custSel modSld">
      <pc:chgData name="Raghavendra K" userId="33e83220-6405-4fd6-9ff8-8bc3593ea1b7" providerId="ADAL" clId="{3E0B36D1-B71C-485F-BC5C-DE26605EABB7}" dt="2024-09-03T07:20:02.427" v="91" actId="20577"/>
      <pc:docMkLst>
        <pc:docMk/>
      </pc:docMkLst>
      <pc:sldChg chg="modSp mod">
        <pc:chgData name="Raghavendra K" userId="33e83220-6405-4fd6-9ff8-8bc3593ea1b7" providerId="ADAL" clId="{3E0B36D1-B71C-485F-BC5C-DE26605EABB7}" dt="2024-09-03T07:20:02.427" v="91" actId="20577"/>
        <pc:sldMkLst>
          <pc:docMk/>
          <pc:sldMk cId="0" sldId="260"/>
        </pc:sldMkLst>
      </pc:sldChg>
    </pc:docChg>
  </pc:docChgLst>
  <pc:docChgLst>
    <pc:chgData name="Raghavendra K" userId="33e83220-6405-4fd6-9ff8-8bc3593ea1b7" providerId="ADAL" clId="{8A5785CB-577F-4B60-9AC0-BEE165E210B1}"/>
    <pc:docChg chg="modSld">
      <pc:chgData name="Raghavendra K" userId="33e83220-6405-4fd6-9ff8-8bc3593ea1b7" providerId="ADAL" clId="{8A5785CB-577F-4B60-9AC0-BEE165E210B1}" dt="2024-11-27T12:03:16.739" v="19" actId="20577"/>
      <pc:docMkLst>
        <pc:docMk/>
      </pc:docMkLst>
      <pc:sldChg chg="modSp mod">
        <pc:chgData name="Raghavendra K" userId="33e83220-6405-4fd6-9ff8-8bc3593ea1b7" providerId="ADAL" clId="{8A5785CB-577F-4B60-9AC0-BEE165E210B1}" dt="2024-11-27T12:03:16.739" v="19" actId="20577"/>
        <pc:sldMkLst>
          <pc:docMk/>
          <pc:sldMk cId="0" sldId="260"/>
        </pc:sldMkLst>
        <pc:spChg chg="mod">
          <ac:chgData name="Raghavendra K" userId="33e83220-6405-4fd6-9ff8-8bc3593ea1b7" providerId="ADAL" clId="{8A5785CB-577F-4B60-9AC0-BEE165E210B1}" dt="2024-11-27T12:03:02.027" v="1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ghavendra K" userId="33e83220-6405-4fd6-9ff8-8bc3593ea1b7" providerId="ADAL" clId="{8A5785CB-577F-4B60-9AC0-BEE165E210B1}" dt="2024-11-27T12:03:16.739" v="19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  <pc:docChgLst>
    <pc:chgData name="Raghavendra K" userId="33e83220-6405-4fd6-9ff8-8bc3593ea1b7" providerId="ADAL" clId="{ABA22749-26CE-4BB8-A881-85C53E80DE60}"/>
    <pc:docChg chg="modSld">
      <pc:chgData name="Raghavendra K" userId="33e83220-6405-4fd6-9ff8-8bc3593ea1b7" providerId="ADAL" clId="{ABA22749-26CE-4BB8-A881-85C53E80DE60}" dt="2025-02-15T08:41:06.850" v="43" actId="20577"/>
      <pc:docMkLst>
        <pc:docMk/>
      </pc:docMkLst>
      <pc:sldChg chg="modSp mod">
        <pc:chgData name="Raghavendra K" userId="33e83220-6405-4fd6-9ff8-8bc3593ea1b7" providerId="ADAL" clId="{ABA22749-26CE-4BB8-A881-85C53E80DE60}" dt="2025-02-15T08:41:06.850" v="43" actId="20577"/>
        <pc:sldMkLst>
          <pc:docMk/>
          <pc:sldMk cId="0" sldId="260"/>
        </pc:sldMkLst>
        <pc:spChg chg="mod">
          <ac:chgData name="Raghavendra K" userId="33e83220-6405-4fd6-9ff8-8bc3593ea1b7" providerId="ADAL" clId="{ABA22749-26CE-4BB8-A881-85C53E80DE60}" dt="2025-02-15T08:41:06.850" v="43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-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8" y="4136906"/>
            <a:ext cx="2367546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6799A-2B02-3605-40AF-DCED082E0681}"/>
              </a:ext>
            </a:extLst>
          </p:cNvPr>
          <p:cNvSpPr txBox="1"/>
          <p:nvPr/>
        </p:nvSpPr>
        <p:spPr>
          <a:xfrm>
            <a:off x="2733774" y="4060411"/>
            <a:ext cx="488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Insurance Policy Management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F1784A-30AC-03EC-39FF-0453FEFF272E}"/>
              </a:ext>
            </a:extLst>
          </p:cNvPr>
          <p:cNvSpPr txBox="1"/>
          <p:nvPr/>
        </p:nvSpPr>
        <p:spPr>
          <a:xfrm>
            <a:off x="2234153" y="4984915"/>
            <a:ext cx="4031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Ananmay Anand &amp; </a:t>
            </a:r>
            <a:r>
              <a:rPr lang="en-US" dirty="0" err="1">
                <a:solidFill>
                  <a:schemeClr val="bg1"/>
                </a:solidFill>
              </a:rPr>
              <a:t>Boddeti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Musilinaidu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7C69C-1C80-4E30-41D1-409EA3A97E73}"/>
              </a:ext>
            </a:extLst>
          </p:cNvPr>
          <p:cNvSpPr txBox="1"/>
          <p:nvPr/>
        </p:nvSpPr>
        <p:spPr>
          <a:xfrm>
            <a:off x="320513" y="5552530"/>
            <a:ext cx="2083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- 2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D05A-1111-23F1-ED86-1B261F46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PROJECT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8A6CBB-5E22-F260-9ACB-B5688BEA6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87" y="1510013"/>
            <a:ext cx="9553022" cy="383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187CC"/>
                </a:solidFill>
              </a:rPr>
              <a:t>Insurance Policy Management System</a:t>
            </a:r>
            <a:r>
              <a:rPr lang="en-US" sz="2400" dirty="0">
                <a:solidFill>
                  <a:srgbClr val="0187CC"/>
                </a:solidFill>
              </a:rPr>
              <a:t> is a web-based application designed to manage insurance policies and customer policy details efficiently.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The system allows insurance providers to: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Create and manage insurance policies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Assign policies to customers</a:t>
            </a:r>
          </a:p>
          <a:p>
            <a:pPr lvl="1"/>
            <a:r>
              <a:rPr lang="en-US" dirty="0">
                <a:solidFill>
                  <a:srgbClr val="0187CC"/>
                </a:solidFill>
              </a:rPr>
              <a:t>Track policy status throughout its lifecycle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187CC"/>
                </a:solidFill>
              </a:rPr>
              <a:t>The application provides a user-friendly interface for customers and administrators while ensuring secure and reliable backend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187CC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17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B97B-EB29-300B-00F8-61A1B6F03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023"/>
            <a:ext cx="9144000" cy="1074082"/>
          </a:xfrm>
        </p:spPr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SYSTEM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4B255-BF31-0C16-8A07-6B9FA772E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82" y="1949992"/>
            <a:ext cx="11315306" cy="2933422"/>
          </a:xfrm>
        </p:spPr>
        <p:txBody>
          <a:bodyPr>
            <a:normAutofit fontScale="92500" lnSpcReduction="10000"/>
          </a:bodyPr>
          <a:lstStyle/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Frontend: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Angular-based user interface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Backend: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Spring Boot REST APIs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Database: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Relational database for persistent storage</a:t>
            </a: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solidFill>
                  <a:srgbClr val="0187CC"/>
                </a:solidFill>
                <a:latin typeface="Arial" panose="020B0604020202020204" pitchFamily="34" charset="0"/>
              </a:rPr>
              <a:t>Deployment:</a:t>
            </a:r>
            <a:r>
              <a:rPr lang="en-US" altLang="en-US" sz="2600" dirty="0">
                <a:solidFill>
                  <a:srgbClr val="0187CC"/>
                </a:solidFill>
                <a:latin typeface="Arial" panose="020B0604020202020204" pitchFamily="34" charset="0"/>
              </a:rPr>
              <a:t> Docker containerized application deployed on Azure Cloud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BE22C-543F-E810-CFAC-EE0894F0BFB9}"/>
              </a:ext>
            </a:extLst>
          </p:cNvPr>
          <p:cNvSpPr txBox="1"/>
          <p:nvPr/>
        </p:nvSpPr>
        <p:spPr>
          <a:xfrm>
            <a:off x="221527" y="5106283"/>
            <a:ext cx="11682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187CC"/>
                </a:solidFill>
              </a:rPr>
              <a:t>Admin: Start → Login → Create Policy → Review Applications → </a:t>
            </a:r>
            <a:r>
              <a:rPr lang="en-US" sz="2400" b="1" dirty="0">
                <a:solidFill>
                  <a:srgbClr val="0187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</a:t>
            </a:r>
            <a:r>
              <a:rPr lang="en-US" sz="2400" b="1" dirty="0">
                <a:solidFill>
                  <a:srgbClr val="0187CC"/>
                </a:solidFill>
              </a:rPr>
              <a:t>/Reject  →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BC29C-6A3B-54BB-FBE8-2D419E6AE7F7}"/>
              </a:ext>
            </a:extLst>
          </p:cNvPr>
          <p:cNvSpPr txBox="1"/>
          <p:nvPr/>
        </p:nvSpPr>
        <p:spPr>
          <a:xfrm>
            <a:off x="287518" y="5790818"/>
            <a:ext cx="116169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187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Customer: Start → Register → Login → View Policies → Apply → Track → End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1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A1240-F06C-EEE4-9053-0EF0090E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KEY OBJECTIVES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F0E1E5-8BBD-53F1-76D1-0C9E23DF88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73" y="1462944"/>
            <a:ext cx="1198225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Digitize insurance policy management processes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Convert all policy operations from manual paperwork to a centralized digital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Improve tracking and visibility of policy information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Allow real-time access to policy status, details, and history for both admin and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Reduce manual effort and processing time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Automate policy application, approval, and updates to minimize human intervention and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Provide role-based access for Admin and Customer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Ensure users can access only the features and data relevant to their assigned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Ensure data validation and error handling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Validate user inputs and handle system errors gracefully to maintain data accuracy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109786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9895-7D3F-8664-8C43-711A4E18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0187CC"/>
                </a:solidFill>
              </a:rPr>
              <a:t>SYSTEM USERS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9D0A3-E492-8651-1F8C-1CA18167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187CC"/>
                </a:solidFill>
              </a:rPr>
              <a:t>Admin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49355-72CA-EE2F-3D4E-AA06955754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0187CC"/>
                </a:solidFill>
              </a:rPr>
              <a:t>Creates and manages insurance policies</a:t>
            </a:r>
          </a:p>
          <a:p>
            <a:r>
              <a:rPr lang="en-US" dirty="0">
                <a:solidFill>
                  <a:srgbClr val="0187CC"/>
                </a:solidFill>
              </a:rPr>
              <a:t>Views registered customers</a:t>
            </a:r>
          </a:p>
          <a:p>
            <a:r>
              <a:rPr lang="en-US" dirty="0">
                <a:solidFill>
                  <a:srgbClr val="0187CC"/>
                </a:solidFill>
              </a:rPr>
              <a:t>Approves or rejects policy requests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BD725-B885-A703-3ED1-B088275C6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187CC"/>
                </a:solidFill>
              </a:rPr>
              <a:t>Customer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E3333-18BB-2A00-153D-8FBC78DD5A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solidFill>
                  <a:srgbClr val="0187CC"/>
                </a:solidFill>
              </a:rPr>
              <a:t>Registers and logs into the system</a:t>
            </a:r>
          </a:p>
          <a:p>
            <a:r>
              <a:rPr lang="en-US" dirty="0">
                <a:solidFill>
                  <a:srgbClr val="0187CC"/>
                </a:solidFill>
              </a:rPr>
              <a:t>Views available insurance policies</a:t>
            </a:r>
          </a:p>
          <a:p>
            <a:r>
              <a:rPr lang="en-US" dirty="0">
                <a:solidFill>
                  <a:srgbClr val="0187CC"/>
                </a:solidFill>
              </a:rPr>
              <a:t>Applies for policies</a:t>
            </a:r>
          </a:p>
          <a:p>
            <a:r>
              <a:rPr lang="en-US" dirty="0">
                <a:solidFill>
                  <a:srgbClr val="0187CC"/>
                </a:solidFill>
              </a:rPr>
              <a:t>Tracks policy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70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A617-5120-5FE1-8DDD-CBF98D41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ADMIN MODULE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593CCB9-D22E-69D2-E202-E393CAAA4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790973"/>
              </p:ext>
            </p:extLst>
          </p:nvPr>
        </p:nvGraphicFramePr>
        <p:xfrm>
          <a:off x="725079" y="1596220"/>
          <a:ext cx="10515600" cy="474582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19970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8393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0351750"/>
                    </a:ext>
                  </a:extLst>
                </a:gridCol>
              </a:tblGrid>
              <a:tr h="271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IN" sz="1600" dirty="0">
                        <a:solidFill>
                          <a:srgbClr val="0187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/ Feature</a:t>
                      </a:r>
                      <a:endParaRPr lang="en-IN" sz="1600">
                        <a:solidFill>
                          <a:srgbClr val="0187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600" dirty="0">
                        <a:solidFill>
                          <a:srgbClr val="0187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25157"/>
                  </a:ext>
                </a:extLst>
              </a:tr>
              <a:tr h="887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Management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Policy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enters policy name, premium amount, duration (years), and description. System validates and saves the policy in the database.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463648"/>
                  </a:ext>
                </a:extLst>
              </a:tr>
              <a:tr h="721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Management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Policies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can view policy name, premium amount, duration, and description for effective monitoring.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462537"/>
                  </a:ext>
                </a:extLst>
              </a:tr>
              <a:tr h="628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Management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Customers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can view customer name, email ID, phone number, and date of birth to ensure transparency.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187086"/>
                  </a:ext>
                </a:extLst>
              </a:tr>
              <a:tr h="721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Pending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 can view pending policy requests with customer name, policy name, and status as Pending.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112605"/>
                  </a:ext>
                </a:extLst>
              </a:tr>
              <a:tr h="820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Approve Policy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approval, policy start date is set to the current date, end date is calculated based on duration, and status becomes Approved.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845345"/>
                  </a:ext>
                </a:extLst>
              </a:tr>
              <a:tr h="436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Requests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Reject Policy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rejection, the policy status is updated to Rejected.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01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160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3939-3B3E-DC8B-E349-9F2864AD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CUSTOMER MODULE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07C238-AB9C-ED75-3877-30D4B89FF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006648"/>
              </p:ext>
            </p:extLst>
          </p:nvPr>
        </p:nvGraphicFramePr>
        <p:xfrm>
          <a:off x="999242" y="1574275"/>
          <a:ext cx="10354557" cy="4758664"/>
        </p:xfrm>
        <a:graphic>
          <a:graphicData uri="http://schemas.openxmlformats.org/drawingml/2006/table">
            <a:tbl>
              <a:tblPr/>
              <a:tblGrid>
                <a:gridCol w="3451519">
                  <a:extLst>
                    <a:ext uri="{9D8B030D-6E8A-4147-A177-3AD203B41FA5}">
                      <a16:colId xmlns:a16="http://schemas.microsoft.com/office/drawing/2014/main" val="4000769896"/>
                    </a:ext>
                  </a:extLst>
                </a:gridCol>
                <a:gridCol w="3451519">
                  <a:extLst>
                    <a:ext uri="{9D8B030D-6E8A-4147-A177-3AD203B41FA5}">
                      <a16:colId xmlns:a16="http://schemas.microsoft.com/office/drawing/2014/main" val="3140297810"/>
                    </a:ext>
                  </a:extLst>
                </a:gridCol>
                <a:gridCol w="3451519">
                  <a:extLst>
                    <a:ext uri="{9D8B030D-6E8A-4147-A177-3AD203B41FA5}">
                      <a16:colId xmlns:a16="http://schemas.microsoft.com/office/drawing/2014/main" val="617729914"/>
                    </a:ext>
                  </a:extLst>
                </a:gridCol>
              </a:tblGrid>
              <a:tr h="24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187CC"/>
                          </a:solidFill>
                        </a:rPr>
                        <a:t>Category</a:t>
                      </a:r>
                      <a:endParaRPr lang="en-IN" sz="1800" dirty="0">
                        <a:solidFill>
                          <a:srgbClr val="0187CC"/>
                        </a:solidFill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187CC"/>
                          </a:solidFill>
                        </a:rPr>
                        <a:t>Action / Feature</a:t>
                      </a:r>
                      <a:endParaRPr lang="en-IN" sz="1800">
                        <a:solidFill>
                          <a:srgbClr val="0187CC"/>
                        </a:solidFill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187CC"/>
                          </a:solidFill>
                        </a:rPr>
                        <a:t>Description</a:t>
                      </a:r>
                      <a:endParaRPr lang="en-IN" sz="1800" dirty="0">
                        <a:solidFill>
                          <a:srgbClr val="0187CC"/>
                        </a:solidFill>
                      </a:endParaRP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531710"/>
                  </a:ext>
                </a:extLst>
              </a:tr>
              <a:tr h="1184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 Management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Registration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registers by providing a unique username, password, valid Gmail address, 10-digit phone number, and past date of birth. System validates all inputs before account creation.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540331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Viewing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Available Policies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can view policy name, premium amount, duration, and description to make informed decisions.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789685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Application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Apply for Policy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selects a policy and clicks Apply. The request is sent to admin and the initial status is set to Pending.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946996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Tracking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Track Policy Status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can view applied policy details including policy name and status (Pending, Approved, or Rejected).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957024"/>
                  </a:ext>
                </a:extLst>
              </a:tr>
              <a:tr h="81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Tracking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Policy Duration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187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approval, customer can view policy start date and end date calculated based on policy duration.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155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38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FC02-844F-FDA9-515E-D972A2A7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14" y="560862"/>
            <a:ext cx="3932237" cy="853126"/>
          </a:xfrm>
        </p:spPr>
        <p:txBody>
          <a:bodyPr/>
          <a:lstStyle/>
          <a:p>
            <a:r>
              <a:rPr lang="en-IN" dirty="0">
                <a:solidFill>
                  <a:srgbClr val="0187CC"/>
                </a:solidFill>
              </a:rPr>
              <a:t>Admin Login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367004-DC68-0ED4-AD9F-756C621F6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511" y="1413988"/>
            <a:ext cx="7373914" cy="4798276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31E9B6A-F76A-5F2D-018F-9F4B4E526BB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40276" y="1444132"/>
            <a:ext cx="433191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Application opens with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Login Page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187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User enters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username and password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187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Backend validates credentials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Based on role: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Admin → Admin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Customer → Customer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Arial" panose="020B0604020202020204" pitchFamily="34" charset="0"/>
              </a:rPr>
              <a:t>Invalid credentials display an error message</a:t>
            </a:r>
          </a:p>
        </p:txBody>
      </p:sp>
    </p:spTree>
    <p:extLst>
      <p:ext uri="{BB962C8B-B14F-4D97-AF65-F5344CB8AC3E}">
        <p14:creationId xmlns:p14="http://schemas.microsoft.com/office/powerpoint/2010/main" val="266097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8CDD5-5A56-021C-44F6-C63A35B6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3790"/>
            <a:ext cx="3932237" cy="803635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9C5F33C-EEEC-DEC7-9EDB-34F1C307A7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3C4F5-A639-C0C4-5C26-CFED086CD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5118754"/>
          </a:xfrm>
        </p:spPr>
        <p:txBody>
          <a:bodyPr>
            <a:normAutofit fontScale="62500" lnSpcReduction="20000"/>
          </a:bodyPr>
          <a:lstStyle/>
          <a:p>
            <a:r>
              <a:rPr lang="en-US" sz="3400" dirty="0">
                <a:solidFill>
                  <a:srgbClr val="0187CC"/>
                </a:solidFill>
              </a:rPr>
              <a:t>The </a:t>
            </a:r>
            <a:r>
              <a:rPr lang="en-US" sz="3400" b="1" dirty="0">
                <a:solidFill>
                  <a:srgbClr val="0187CC"/>
                </a:solidFill>
              </a:rPr>
              <a:t>Admin Dashboard</a:t>
            </a:r>
            <a:r>
              <a:rPr lang="en-US" sz="3400" dirty="0">
                <a:solidFill>
                  <a:srgbClr val="0187CC"/>
                </a:solidFill>
              </a:rPr>
              <a:t> is the central control panel for managing the insurance system.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Key Features:</a:t>
            </a:r>
            <a:endParaRPr lang="en-US" sz="3400" dirty="0">
              <a:solidFill>
                <a:srgbClr val="0187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Create and manage insurance policies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View all existing policies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Review and approve/reject customer policy requests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View registered customer details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Purpose:</a:t>
            </a:r>
            <a:br>
              <a:rPr lang="en-US" sz="3400" dirty="0">
                <a:solidFill>
                  <a:srgbClr val="0187CC"/>
                </a:solidFill>
              </a:rPr>
            </a:br>
            <a:r>
              <a:rPr lang="en-US" sz="3400" dirty="0">
                <a:solidFill>
                  <a:srgbClr val="0187CC"/>
                </a:solidFill>
              </a:rPr>
              <a:t>Provides centralized control, faster policy approvals, and efficient system monitoring</a:t>
            </a:r>
            <a:r>
              <a:rPr lang="en-US" sz="3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858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0B44-7996-5E34-A263-709A8815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2804"/>
            <a:ext cx="3932237" cy="1001598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 : Create Policy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35CD026-1033-BC3B-B764-8E2CCDB9283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5497F-95CD-B4A4-8E63-6D74DA54D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6666" y="1213700"/>
            <a:ext cx="3932237" cy="536149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187CC"/>
                </a:solidFill>
              </a:rPr>
              <a:t>This screen allows the admin to create new insurance policies in the system.</a:t>
            </a:r>
          </a:p>
          <a:p>
            <a:r>
              <a:rPr lang="en-US" sz="2200" b="1" dirty="0">
                <a:solidFill>
                  <a:srgbClr val="0187CC"/>
                </a:solidFill>
              </a:rPr>
              <a:t>Key Details Added:</a:t>
            </a:r>
            <a:endParaRPr lang="en-US" sz="2200" dirty="0">
              <a:solidFill>
                <a:srgbClr val="0187C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Premium Amount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Duration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</a:rPr>
              <a:t>Policy Description</a:t>
            </a:r>
          </a:p>
          <a:p>
            <a:r>
              <a:rPr lang="en-US" sz="2200" b="1" dirty="0">
                <a:solidFill>
                  <a:srgbClr val="0187CC"/>
                </a:solidFill>
              </a:rPr>
              <a:t>Purpose:</a:t>
            </a:r>
            <a:br>
              <a:rPr lang="en-US" sz="2200" dirty="0">
                <a:solidFill>
                  <a:srgbClr val="0187CC"/>
                </a:solidFill>
              </a:rPr>
            </a:br>
            <a:r>
              <a:rPr lang="en-US" sz="2200" dirty="0">
                <a:solidFill>
                  <a:srgbClr val="0187CC"/>
                </a:solidFill>
              </a:rPr>
              <a:t>Enables administrators to define and publish insurance policies that are made available to customers</a:t>
            </a:r>
            <a:r>
              <a:rPr lang="en-US" sz="2600" dirty="0">
                <a:solidFill>
                  <a:srgbClr val="0187CC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82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16E0-8429-2C37-31AD-ED3BC28B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75674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 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All Policies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01AE848-C4AA-2DFF-231D-8329275081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5032360" y="1109940"/>
            <a:ext cx="6930254" cy="511875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288C-F4D5-030B-A0E5-2D06DBC0A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32873"/>
            <a:ext cx="3932237" cy="5118755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solidFill>
                  <a:srgbClr val="0187CC"/>
                </a:solidFill>
              </a:rPr>
              <a:t>This screen displays all insurance policies available in the system.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Key Features:</a:t>
            </a:r>
            <a:endParaRPr lang="en-US" sz="2600" dirty="0">
              <a:solidFill>
                <a:srgbClr val="0187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View policy details such as premium, duration, and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Search policies by name or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Delete outdated or inactive policies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Purpose:</a:t>
            </a:r>
            <a:br>
              <a:rPr lang="en-US" sz="2600" dirty="0">
                <a:solidFill>
                  <a:srgbClr val="0187CC"/>
                </a:solidFill>
              </a:rPr>
            </a:br>
            <a:r>
              <a:rPr lang="en-US" sz="2600" dirty="0">
                <a:solidFill>
                  <a:srgbClr val="0187CC"/>
                </a:solidFill>
              </a:rPr>
              <a:t>Helps the admin monitor, manage, and maintain all insurance policies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859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B39D-6D4B-B7C2-B7A0-FB139450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299267"/>
            <a:ext cx="3932237" cy="1069975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Admin Dashboard: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Customer Details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54E02FE-B8C9-235D-69B4-7ECD1B204AE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5180012" y="669303"/>
            <a:ext cx="6546932" cy="519650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92A08-73C2-0595-6EBE-3C8A5659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69242"/>
            <a:ext cx="3932237" cy="4873624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solidFill>
                  <a:srgbClr val="0187CC"/>
                </a:solidFill>
              </a:rPr>
              <a:t>This screen allows the admin to view all registered customers in the system.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Key Features:</a:t>
            </a:r>
            <a:endParaRPr lang="en-US" sz="2600" dirty="0">
              <a:solidFill>
                <a:srgbClr val="0187CC"/>
              </a:solidFill>
            </a:endParaRPr>
          </a:p>
          <a:p>
            <a:r>
              <a:rPr lang="en-US" sz="2600" dirty="0">
                <a:solidFill>
                  <a:srgbClr val="0187CC"/>
                </a:solidFill>
              </a:rPr>
              <a:t>View customer profile details</a:t>
            </a:r>
          </a:p>
          <a:p>
            <a:r>
              <a:rPr lang="en-US" sz="2600" dirty="0">
                <a:solidFill>
                  <a:srgbClr val="0187CC"/>
                </a:solidFill>
              </a:rPr>
              <a:t>Search customers by username or email</a:t>
            </a:r>
          </a:p>
          <a:p>
            <a:r>
              <a:rPr lang="en-US" sz="2600" dirty="0">
                <a:solidFill>
                  <a:srgbClr val="0187CC"/>
                </a:solidFill>
              </a:rPr>
              <a:t>Monitor customer registrations and activity</a:t>
            </a:r>
          </a:p>
          <a:p>
            <a:r>
              <a:rPr lang="en-US" sz="2600" b="1" dirty="0">
                <a:solidFill>
                  <a:srgbClr val="0187CC"/>
                </a:solidFill>
              </a:rPr>
              <a:t>Purpose:</a:t>
            </a:r>
            <a:br>
              <a:rPr lang="en-US" sz="2600" dirty="0">
                <a:solidFill>
                  <a:srgbClr val="0187CC"/>
                </a:solidFill>
              </a:rPr>
            </a:br>
            <a:r>
              <a:rPr lang="en-US" sz="2600" dirty="0">
                <a:solidFill>
                  <a:srgbClr val="0187CC"/>
                </a:solidFill>
              </a:rPr>
              <a:t>Helps administrators manage customer data and maintain transparency across the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31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DF46-BF81-7BD1-F58F-105D88E7F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9822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187CC"/>
                </a:solidFill>
              </a:rPr>
              <a:t>Admin Dashboard: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Policy Requests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E927F99-FE0E-FED4-874A-6103E44A7FB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859FB-636B-B123-9AD0-669DB496F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55422"/>
            <a:ext cx="3932237" cy="4967925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>
                <a:solidFill>
                  <a:srgbClr val="0187CC"/>
                </a:solidFill>
              </a:rPr>
              <a:t>This screen displays all </a:t>
            </a:r>
            <a:r>
              <a:rPr lang="en-US" sz="3400" b="1" dirty="0">
                <a:solidFill>
                  <a:srgbClr val="0187CC"/>
                </a:solidFill>
              </a:rPr>
              <a:t>pending insurance policy requests</a:t>
            </a:r>
            <a:r>
              <a:rPr lang="en-US" sz="3400" dirty="0">
                <a:solidFill>
                  <a:srgbClr val="0187CC"/>
                </a:solidFill>
              </a:rPr>
              <a:t> submitted by customers.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Key Features:</a:t>
            </a:r>
            <a:endParaRPr lang="en-US" sz="3400" dirty="0">
              <a:solidFill>
                <a:srgbClr val="0187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View customer and policy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Review pending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187CC"/>
                </a:solidFill>
              </a:rPr>
              <a:t>Approve or reject policy requests</a:t>
            </a:r>
          </a:p>
          <a:p>
            <a:r>
              <a:rPr lang="en-US" sz="3400" b="1" dirty="0">
                <a:solidFill>
                  <a:srgbClr val="0187CC"/>
                </a:solidFill>
              </a:rPr>
              <a:t>Purpose:</a:t>
            </a:r>
            <a:br>
              <a:rPr lang="en-US" sz="3400" dirty="0">
                <a:solidFill>
                  <a:srgbClr val="0187CC"/>
                </a:solidFill>
              </a:rPr>
            </a:br>
            <a:r>
              <a:rPr lang="en-US" sz="3400" dirty="0">
                <a:solidFill>
                  <a:srgbClr val="0187CC"/>
                </a:solidFill>
              </a:rPr>
              <a:t>Allows the admin to make decisions on policy applications and update policy status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311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DF94-2E75-45E6-DEE0-1C5F00A5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8536"/>
            <a:ext cx="3932237" cy="100866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187CC"/>
                </a:solidFill>
              </a:rPr>
              <a:t>New Customer: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Register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0ABFB37-6B15-4560-3858-B6367FCE6E9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4772025" y="546755"/>
            <a:ext cx="7039761" cy="563722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CED2D-BFF8-808D-BAB5-C77759C8C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97203"/>
            <a:ext cx="3932237" cy="5335571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rgbClr val="0187CC"/>
                </a:solidFill>
              </a:rPr>
              <a:t>his screen allows a new customer to create an account in the system.</a:t>
            </a:r>
          </a:p>
          <a:p>
            <a:r>
              <a:rPr lang="en-US" sz="2800" b="1" dirty="0">
                <a:solidFill>
                  <a:srgbClr val="0187CC"/>
                </a:solidFill>
              </a:rPr>
              <a:t>Key Details Collected:</a:t>
            </a:r>
            <a:endParaRPr lang="en-US" sz="2800" dirty="0">
              <a:solidFill>
                <a:srgbClr val="0187CC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Full Name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Email Address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Mobile Number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Username &amp; Password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Date of Birth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187CC"/>
                </a:solidFill>
              </a:rPr>
              <a:t>Address</a:t>
            </a:r>
          </a:p>
          <a:p>
            <a:r>
              <a:rPr lang="en-US" sz="2800" b="1" dirty="0">
                <a:solidFill>
                  <a:srgbClr val="0187CC"/>
                </a:solidFill>
              </a:rPr>
              <a:t>Purpose:</a:t>
            </a:r>
            <a:br>
              <a:rPr lang="en-US" sz="2800" dirty="0">
                <a:solidFill>
                  <a:srgbClr val="0187CC"/>
                </a:solidFill>
              </a:rPr>
            </a:br>
            <a:r>
              <a:rPr lang="en-US" sz="2800" dirty="0">
                <a:solidFill>
                  <a:srgbClr val="0187CC"/>
                </a:solidFill>
              </a:rPr>
              <a:t>Registers the customer securely and enables access to insurance policies and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403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12C7-E722-A18A-3C62-1EE71CF5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56" y="452437"/>
            <a:ext cx="4184699" cy="1069975"/>
          </a:xfrm>
        </p:spPr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Customer Dashboard:</a:t>
            </a:r>
            <a:br>
              <a:rPr lang="en-US" b="1" dirty="0">
                <a:solidFill>
                  <a:srgbClr val="0187CC"/>
                </a:solidFill>
              </a:rPr>
            </a:br>
            <a:r>
              <a:rPr lang="en-US" b="1" dirty="0">
                <a:solidFill>
                  <a:srgbClr val="0187CC"/>
                </a:solidFill>
              </a:rPr>
              <a:t>Details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8D7FDDC-C8CC-0C4B-2407-2F283CBA9A8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5024487" y="669303"/>
            <a:ext cx="6862713" cy="564665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06BDA-78CA-BDB0-4251-7CA95016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32873"/>
            <a:ext cx="3932237" cy="5071621"/>
          </a:xfrm>
        </p:spPr>
        <p:txBody>
          <a:bodyPr>
            <a:normAutofit fontScale="62500" lnSpcReduction="20000"/>
          </a:bodyPr>
          <a:lstStyle/>
          <a:p>
            <a:r>
              <a:rPr lang="en-US" sz="3800" dirty="0">
                <a:solidFill>
                  <a:srgbClr val="0187CC"/>
                </a:solidFill>
              </a:rPr>
              <a:t>The Customer Dashboard provides an overview of the customer’s insurance activities.</a:t>
            </a:r>
          </a:p>
          <a:p>
            <a:r>
              <a:rPr lang="en-US" sz="3800" b="1" dirty="0">
                <a:solidFill>
                  <a:srgbClr val="0187CC"/>
                </a:solidFill>
              </a:rPr>
              <a:t>Key Features:</a:t>
            </a:r>
            <a:endParaRPr lang="en-US" sz="3800" dirty="0">
              <a:solidFill>
                <a:srgbClr val="0187CC"/>
              </a:solidFill>
            </a:endParaRPr>
          </a:p>
          <a:p>
            <a:r>
              <a:rPr lang="en-US" sz="3800" dirty="0">
                <a:solidFill>
                  <a:srgbClr val="0187CC"/>
                </a:solidFill>
              </a:rPr>
              <a:t>View all available insurance policies</a:t>
            </a:r>
          </a:p>
          <a:p>
            <a:r>
              <a:rPr lang="en-US" sz="3800" dirty="0">
                <a:solidFill>
                  <a:srgbClr val="0187CC"/>
                </a:solidFill>
              </a:rPr>
              <a:t>Track requested policies and approval status</a:t>
            </a:r>
          </a:p>
          <a:p>
            <a:r>
              <a:rPr lang="en-US" sz="3800" dirty="0">
                <a:solidFill>
                  <a:srgbClr val="0187CC"/>
                </a:solidFill>
              </a:rPr>
              <a:t>View active and approved policies</a:t>
            </a:r>
          </a:p>
          <a:p>
            <a:r>
              <a:rPr lang="en-US" sz="3800" b="1" dirty="0">
                <a:solidFill>
                  <a:srgbClr val="0187CC"/>
                </a:solidFill>
              </a:rPr>
              <a:t>Purpose:</a:t>
            </a:r>
            <a:br>
              <a:rPr lang="en-US" sz="3800" dirty="0">
                <a:solidFill>
                  <a:srgbClr val="0187CC"/>
                </a:solidFill>
              </a:rPr>
            </a:br>
            <a:r>
              <a:rPr lang="en-US" sz="3800" dirty="0">
                <a:solidFill>
                  <a:srgbClr val="0187CC"/>
                </a:solidFill>
              </a:rPr>
              <a:t>Allows customers to manage policies and track their insurance status from a single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589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4BF3-4D96-8934-F8E0-83C62634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Postman Checks</a:t>
            </a:r>
            <a:endParaRPr lang="en-IN" b="1" dirty="0">
              <a:solidFill>
                <a:srgbClr val="0187CC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18F90-68FA-2EA5-2176-CB72CA3D8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74" y="1599382"/>
            <a:ext cx="5334930" cy="45657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0A1CD2-3D8A-D511-D2EA-2C4F4A6AF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604" y="1599382"/>
            <a:ext cx="5857188" cy="45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73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38EA-81DB-1FFE-6647-87A47101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187CC"/>
                </a:solidFill>
              </a:rPr>
              <a:t>Docker Deployment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9864F2-596B-382A-6D57-A6BA429E2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331921"/>
            <a:ext cx="10439401" cy="5323402"/>
          </a:xfrm>
        </p:spPr>
      </p:pic>
    </p:spTree>
    <p:extLst>
      <p:ext uri="{BB962C8B-B14F-4D97-AF65-F5344CB8AC3E}">
        <p14:creationId xmlns:p14="http://schemas.microsoft.com/office/powerpoint/2010/main" val="3795621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64DBA-1606-5E32-25AF-6F42707B4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6225-79EF-CE78-8D9A-3F6766683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87CC"/>
                </a:solidFill>
              </a:rPr>
              <a:t>Azure Deployment </a:t>
            </a:r>
            <a:endParaRPr lang="en-IN" sz="4000" b="1" dirty="0">
              <a:solidFill>
                <a:srgbClr val="0187CC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EBB016-3E4A-63B4-D885-3BDBAB441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91" y="1272620"/>
            <a:ext cx="10925666" cy="5585380"/>
          </a:xfrm>
        </p:spPr>
      </p:pic>
    </p:spTree>
    <p:extLst>
      <p:ext uri="{BB962C8B-B14F-4D97-AF65-F5344CB8AC3E}">
        <p14:creationId xmlns:p14="http://schemas.microsoft.com/office/powerpoint/2010/main" val="3470341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EEE7DA-0686-52F5-31CE-655C5A1C3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49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649AB9-9544-0B98-959F-4E578B7B5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9108"/>
            <a:ext cx="12192000" cy="703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37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B10A-804E-C912-662C-79EF7F8F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3127"/>
          </a:xfrm>
        </p:spPr>
        <p:txBody>
          <a:bodyPr>
            <a:normAutofit/>
          </a:bodyPr>
          <a:lstStyle/>
          <a:p>
            <a:pPr algn="ctr"/>
            <a:r>
              <a:rPr lang="en-US" sz="13800" b="1" dirty="0">
                <a:solidFill>
                  <a:srgbClr val="0187CC"/>
                </a:solidFill>
              </a:rPr>
              <a:t>Thank you</a:t>
            </a:r>
            <a:endParaRPr lang="en-IN" sz="13800" b="1" dirty="0">
              <a:solidFill>
                <a:srgbClr val="0187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33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5511</TotalTime>
  <Words>1020</Words>
  <Application>Microsoft Office PowerPoint</Application>
  <PresentationFormat>Widescreen</PresentationFormat>
  <Paragraphs>146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HK Grotesk</vt:lpstr>
      <vt:lpstr>HK Grotesk Light Bold</vt:lpstr>
      <vt:lpstr>Office Theme</vt:lpstr>
      <vt:lpstr>PowerPoint Presentation</vt:lpstr>
      <vt:lpstr>PROJECT DESCRIPTION</vt:lpstr>
      <vt:lpstr>SYSTEM OVERVIEW</vt:lpstr>
      <vt:lpstr>KEY OBJECTIVES</vt:lpstr>
      <vt:lpstr>SYSTEM USERS</vt:lpstr>
      <vt:lpstr>ADMIN MODULE</vt:lpstr>
      <vt:lpstr>CUSTOMER MODULE</vt:lpstr>
      <vt:lpstr>Admin Login</vt:lpstr>
      <vt:lpstr>Admin Dashboard</vt:lpstr>
      <vt:lpstr>Admin Dashboard : Create Policy</vt:lpstr>
      <vt:lpstr>Admin Dashboard : All Policies</vt:lpstr>
      <vt:lpstr>Admin Dashboard: Customer Details</vt:lpstr>
      <vt:lpstr>Admin Dashboard: Policy Requests</vt:lpstr>
      <vt:lpstr>New Customer: Register</vt:lpstr>
      <vt:lpstr>Customer Dashboard: Details</vt:lpstr>
      <vt:lpstr>Postman Checks</vt:lpstr>
      <vt:lpstr>Docker Deployment</vt:lpstr>
      <vt:lpstr>PowerPoint Presentation</vt:lpstr>
      <vt:lpstr>Azure Deployment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Aditya Prasad</cp:lastModifiedBy>
  <cp:revision>23</cp:revision>
  <dcterms:created xsi:type="dcterms:W3CDTF">2024-05-04T13:11:57Z</dcterms:created>
  <dcterms:modified xsi:type="dcterms:W3CDTF">2026-02-09T11:19:06Z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